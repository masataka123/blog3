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47F"/>
    <a:srgbClr val="1C3955"/>
    <a:srgbClr val="F8F5E5"/>
    <a:srgbClr val="BEBEBE"/>
    <a:srgbClr val="082E70"/>
    <a:srgbClr val="002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62"/>
    <p:restoredTop sz="96218"/>
  </p:normalViewPr>
  <p:slideViewPr>
    <p:cSldViewPr snapToGrid="0">
      <p:cViewPr>
        <p:scale>
          <a:sx n="50" d="100"/>
          <a:sy n="50" d="100"/>
        </p:scale>
        <p:origin x="-112" y="-4040"/>
      </p:cViewPr>
      <p:guideLst>
        <p:guide orient="horz" pos="9535"/>
        <p:guide pos="67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4920D-3128-E14D-B6D5-F91729EDAA5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D5418-AB26-F949-B66A-3E24A593FDF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89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D5418-AB26-F949-B66A-3E24A593FDF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8241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1D5418-AB26-F949-B66A-3E24A593FDF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30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951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910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578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03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893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55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336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787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636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41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7286E6-F5B2-CF4B-858C-D36B63802FE8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EBA29-7056-874E-830C-D2D7E23EAD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96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kumimoji="1"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kumimoji="1" sz="6548" kern="1200" baseline="0">
          <a:solidFill>
            <a:schemeClr val="tx1"/>
          </a:solidFill>
          <a:latin typeface="Hiragino Sans W6" panose="020B0400000000000000" pitchFamily="34" charset="-128"/>
          <a:ea typeface="Hiragino Sans W6" panose="020B0400000000000000" pitchFamily="34" charset="-128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kumimoji="1"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kumimoji="1"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kumimoji="1"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図 58">
            <a:extLst>
              <a:ext uri="{FF2B5EF4-FFF2-40B4-BE49-F238E27FC236}">
                <a16:creationId xmlns:a16="http://schemas.microsoft.com/office/drawing/2014/main" id="{185AD7F1-E810-A561-E55B-D134DDDB8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716" y="6317758"/>
            <a:ext cx="9761012" cy="425113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2DD3B6E-C4ED-AE49-89C9-2B43D8979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2" y="6317758"/>
            <a:ext cx="11141252" cy="820200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CA49532-0F65-0299-528C-6E4033460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000" y="541131"/>
            <a:ext cx="13668260" cy="1574800"/>
          </a:xfrm>
        </p:spPr>
        <p:txBody>
          <a:bodyPr>
            <a:normAutofit/>
          </a:bodyPr>
          <a:lstStyle/>
          <a:p>
            <a:r>
              <a:rPr lang="ja-JP" altLang="en-US" sz="8800" b="1">
                <a:solidFill>
                  <a:srgbClr val="002F74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rPr>
              <a:t>曲がりから、空間の正体へ</a:t>
            </a:r>
            <a:endParaRPr kumimoji="1" lang="ja-JP" altLang="en-US" sz="8800" b="1">
              <a:solidFill>
                <a:srgbClr val="002F74"/>
              </a:solidFill>
              <a:latin typeface="Hiragino Sans W8" panose="020B0400000000000000" pitchFamily="34" charset="-128"/>
              <a:ea typeface="Hiragino Sans W8" panose="020B0400000000000000" pitchFamily="34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D78AA4A-85E7-7957-4919-B647DA5D9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6000" y="2088000"/>
            <a:ext cx="13350554" cy="1080000"/>
          </a:xfrm>
        </p:spPr>
        <p:txBody>
          <a:bodyPr>
            <a:normAutofit/>
          </a:bodyPr>
          <a:lstStyle/>
          <a:p>
            <a:r>
              <a:rPr lang="ja-JP" altLang="en-US" sz="5400" b="1">
                <a:solidFill>
                  <a:srgbClr val="082E70"/>
                </a:solidFill>
              </a:rPr>
              <a:t>曲がり方を数にして、図形を見分ける数学</a:t>
            </a:r>
            <a:endParaRPr kumimoji="1" lang="ja-JP" altLang="en-US" sz="5400" b="1">
              <a:solidFill>
                <a:srgbClr val="082E7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3E4AF2-9CA9-176A-9728-9E56B860BAE0}"/>
              </a:ext>
            </a:extLst>
          </p:cNvPr>
          <p:cNvSpPr txBox="1"/>
          <p:nvPr/>
        </p:nvSpPr>
        <p:spPr>
          <a:xfrm>
            <a:off x="5781145" y="2922001"/>
            <a:ext cx="9821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大阪大学大学院理学研究科</a:t>
            </a:r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</a:t>
            </a:r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数学専攻</a:t>
            </a:r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</a:t>
            </a:r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岩井雅崇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75EA56C7-4008-54C7-786D-92B518014F91}"/>
              </a:ext>
            </a:extLst>
          </p:cNvPr>
          <p:cNvSpPr/>
          <p:nvPr/>
        </p:nvSpPr>
        <p:spPr>
          <a:xfrm>
            <a:off x="1260000" y="3780000"/>
            <a:ext cx="9000000" cy="972000"/>
          </a:xfrm>
          <a:prstGeom prst="roundRect">
            <a:avLst/>
          </a:prstGeom>
          <a:solidFill>
            <a:srgbClr val="0634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6C499F-50D0-151C-F100-43987166DAD3}"/>
              </a:ext>
            </a:extLst>
          </p:cNvPr>
          <p:cNvSpPr txBox="1"/>
          <p:nvPr/>
        </p:nvSpPr>
        <p:spPr>
          <a:xfrm>
            <a:off x="1151999" y="3924000"/>
            <a:ext cx="9401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 dirty="0">
                <a:solidFill>
                  <a:schemeClr val="bg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①</a:t>
            </a:r>
            <a:r>
              <a:rPr kumimoji="1" lang="ja-JP" altLang="en-US" sz="4400" b="1">
                <a:solidFill>
                  <a:schemeClr val="bg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三角形の内角が</a:t>
            </a:r>
            <a:r>
              <a:rPr kumimoji="1" lang="en-US" altLang="ja-JP" sz="4400" b="1" dirty="0">
                <a:solidFill>
                  <a:schemeClr val="bg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180</a:t>
            </a:r>
            <a:r>
              <a:rPr kumimoji="1" lang="ja-JP" altLang="en-US" sz="4400" b="1">
                <a:solidFill>
                  <a:schemeClr val="bg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度を超える？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679B678C-B9BB-AB19-1443-1D2CB3DEB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1405" y="14766625"/>
            <a:ext cx="5619045" cy="1517165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35E8E38-05DB-190D-D717-ED535954D919}"/>
              </a:ext>
            </a:extLst>
          </p:cNvPr>
          <p:cNvCxnSpPr>
            <a:cxnSpLocks/>
          </p:cNvCxnSpPr>
          <p:nvPr/>
        </p:nvCxnSpPr>
        <p:spPr>
          <a:xfrm>
            <a:off x="10691811" y="4020459"/>
            <a:ext cx="0" cy="24526663"/>
          </a:xfrm>
          <a:prstGeom prst="line">
            <a:avLst/>
          </a:prstGeom>
          <a:ln w="25400" cmpd="sng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図 31">
            <a:extLst>
              <a:ext uri="{FF2B5EF4-FFF2-40B4-BE49-F238E27FC236}">
                <a16:creationId xmlns:a16="http://schemas.microsoft.com/office/drawing/2014/main" id="{5CF1411C-828D-1314-942E-D217B044B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6267" y="21507910"/>
            <a:ext cx="9121013" cy="6637294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56FEEAD7-47EB-C220-3AB3-BF7A7F559E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0000" y="21852000"/>
            <a:ext cx="9021146" cy="5465212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A113E73-1736-3907-7445-BE59730F58B3}"/>
              </a:ext>
            </a:extLst>
          </p:cNvPr>
          <p:cNvSpPr txBox="1"/>
          <p:nvPr/>
        </p:nvSpPr>
        <p:spPr>
          <a:xfrm>
            <a:off x="1260000" y="5077057"/>
            <a:ext cx="9084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球面上では三つの角がすべて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90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度の三角形を下のように作れます。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3700CB5-1675-EDB0-CB55-32DC316D9E29}"/>
              </a:ext>
            </a:extLst>
          </p:cNvPr>
          <p:cNvSpPr txBox="1"/>
          <p:nvPr/>
        </p:nvSpPr>
        <p:spPr>
          <a:xfrm>
            <a:off x="1260000" y="16740000"/>
            <a:ext cx="8764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u="sng">
                <a:latin typeface="Hiragino Sans W6" panose="020B0400000000000000" pitchFamily="34" charset="-128"/>
                <a:ea typeface="Hiragino Sans W6" panose="020B0400000000000000" pitchFamily="34" charset="-128"/>
              </a:rPr>
              <a:t>なぜ球面上では三角形の内角の和が</a:t>
            </a:r>
            <a:r>
              <a:rPr kumimoji="1" lang="en-US" altLang="ja-JP" sz="3600" b="1" u="sng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180°</a:t>
            </a:r>
            <a:r>
              <a:rPr kumimoji="1" lang="ja-JP" altLang="en-US" sz="3600" b="1" u="sng">
                <a:latin typeface="Hiragino Sans W6" panose="020B0400000000000000" pitchFamily="34" charset="-128"/>
                <a:ea typeface="Hiragino Sans W6" panose="020B0400000000000000" pitchFamily="34" charset="-128"/>
              </a:rPr>
              <a:t>を超えてしまうのでしょうか？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CAF0F20F-2739-8CC0-C2DF-4A94730F6950}"/>
              </a:ext>
            </a:extLst>
          </p:cNvPr>
          <p:cNvGrpSpPr/>
          <p:nvPr/>
        </p:nvGrpSpPr>
        <p:grpSpPr>
          <a:xfrm>
            <a:off x="1259999" y="18756000"/>
            <a:ext cx="9000000" cy="972000"/>
            <a:chOff x="1259999" y="18216000"/>
            <a:chExt cx="9000000" cy="972000"/>
          </a:xfrm>
        </p:grpSpPr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65C07339-53A6-1886-E3B9-14D8F5CA531A}"/>
                </a:ext>
              </a:extLst>
            </p:cNvPr>
            <p:cNvSpPr/>
            <p:nvPr/>
          </p:nvSpPr>
          <p:spPr>
            <a:xfrm>
              <a:off x="1259999" y="18216000"/>
              <a:ext cx="9000000" cy="972000"/>
            </a:xfrm>
            <a:prstGeom prst="roundRect">
              <a:avLst/>
            </a:prstGeom>
            <a:solidFill>
              <a:srgbClr val="06347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080756A7-259A-44B2-7C20-954C471C8D9E}"/>
                </a:ext>
              </a:extLst>
            </p:cNvPr>
            <p:cNvSpPr txBox="1"/>
            <p:nvPr/>
          </p:nvSpPr>
          <p:spPr>
            <a:xfrm>
              <a:off x="1463683" y="18367393"/>
              <a:ext cx="854556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 b="1" dirty="0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②</a:t>
              </a:r>
              <a:r>
                <a:rPr kumimoji="1" lang="ja-JP" altLang="en-US" sz="4400" b="1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曲率と内角の和の関係</a:t>
              </a:r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4D87E18-31BB-1AF0-2985-1C84AEE1A24A}"/>
              </a:ext>
            </a:extLst>
          </p:cNvPr>
          <p:cNvSpPr txBox="1"/>
          <p:nvPr/>
        </p:nvSpPr>
        <p:spPr>
          <a:xfrm>
            <a:off x="1260000" y="19980000"/>
            <a:ext cx="89999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曲面の曲がり方を表す量を</a:t>
            </a:r>
            <a:r>
              <a:rPr kumimoji="1" lang="en" altLang="ja-JP" sz="3600" b="1" dirty="0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Gauss</a:t>
            </a:r>
            <a:r>
              <a:rPr kumimoji="1" lang="ja-JP" altLang="en-US" sz="36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曲率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といいます。この</a:t>
            </a:r>
            <a:r>
              <a:rPr kumimoji="1" lang="en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Gauss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曲率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𝐾 の違いが、</a:t>
            </a:r>
            <a:endParaRPr kumimoji="1" lang="en-US" altLang="ja-JP" sz="36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曲面上の三角形の内角の和に現れます</a:t>
            </a:r>
            <a:r>
              <a:rPr kumimoji="1" lang="ja-JP" altLang="en-US" sz="3600">
                <a:latin typeface="Hiragino Sans W6" panose="020B0400000000000000" pitchFamily="34" charset="-128"/>
                <a:ea typeface="Hiragino Sans W6" panose="020B0400000000000000" pitchFamily="34" charset="-128"/>
              </a:rPr>
              <a:t>。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DC309C99-3BE2-8C8D-9407-AC8C88097AD4}"/>
              </a:ext>
            </a:extLst>
          </p:cNvPr>
          <p:cNvGrpSpPr/>
          <p:nvPr/>
        </p:nvGrpSpPr>
        <p:grpSpPr>
          <a:xfrm>
            <a:off x="11088000" y="3789589"/>
            <a:ext cx="9172055" cy="972000"/>
            <a:chOff x="11099754" y="3789589"/>
            <a:chExt cx="9172055" cy="972000"/>
          </a:xfrm>
        </p:grpSpPr>
        <p:sp>
          <p:nvSpPr>
            <p:cNvPr id="43" name="角丸四角形 42">
              <a:extLst>
                <a:ext uri="{FF2B5EF4-FFF2-40B4-BE49-F238E27FC236}">
                  <a16:creationId xmlns:a16="http://schemas.microsoft.com/office/drawing/2014/main" id="{ACFD14F7-3F21-6880-31A7-6E86C8024EC6}"/>
                </a:ext>
              </a:extLst>
            </p:cNvPr>
            <p:cNvSpPr/>
            <p:nvPr/>
          </p:nvSpPr>
          <p:spPr>
            <a:xfrm>
              <a:off x="11099754" y="3789589"/>
              <a:ext cx="9000000" cy="972000"/>
            </a:xfrm>
            <a:prstGeom prst="roundRect">
              <a:avLst/>
            </a:prstGeom>
            <a:solidFill>
              <a:srgbClr val="06347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0BDA8B64-4EC0-DACA-781D-B45D6799F310}"/>
                </a:ext>
              </a:extLst>
            </p:cNvPr>
            <p:cNvSpPr txBox="1"/>
            <p:nvPr/>
          </p:nvSpPr>
          <p:spPr>
            <a:xfrm>
              <a:off x="11099754" y="3895030"/>
              <a:ext cx="917205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 b="1" dirty="0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③</a:t>
              </a:r>
              <a:r>
                <a:rPr kumimoji="1" lang="ja-JP" altLang="en-US" sz="4400" b="1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曲がり方から穴の数がわかる？</a:t>
              </a:r>
            </a:p>
          </p:txBody>
        </p:sp>
      </p:grp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20FEF3C-367E-8317-C610-78DD79C9FD05}"/>
              </a:ext>
            </a:extLst>
          </p:cNvPr>
          <p:cNvSpPr txBox="1"/>
          <p:nvPr/>
        </p:nvSpPr>
        <p:spPr>
          <a:xfrm>
            <a:off x="11088000" y="5121943"/>
            <a:ext cx="9084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球面やドーナツのような、端のない曲面を考えましょう。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ABFDF5C-595F-9182-0EC2-8AF881729E7F}"/>
              </a:ext>
            </a:extLst>
          </p:cNvPr>
          <p:cNvSpPr txBox="1"/>
          <p:nvPr/>
        </p:nvSpPr>
        <p:spPr>
          <a:xfrm>
            <a:off x="11088000" y="10296000"/>
            <a:ext cx="900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球面には穴がなく、ドーナツには穴が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1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つあります。</a:t>
            </a:r>
            <a:r>
              <a:rPr kumimoji="1" lang="ja-JP" altLang="en-US" sz="3600" b="1" u="sng">
                <a:latin typeface="Hiragino Sans W6" panose="020B0400000000000000" pitchFamily="34" charset="-128"/>
                <a:ea typeface="Hiragino Sans W6" panose="020B0400000000000000" pitchFamily="34" charset="-128"/>
              </a:rPr>
              <a:t>このような</a:t>
            </a:r>
            <a:r>
              <a:rPr kumimoji="1" lang="ja-JP" altLang="en-US" sz="3600" b="1" u="sng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穴の数</a:t>
            </a:r>
            <a:r>
              <a:rPr kumimoji="1" lang="ja-JP" altLang="en-US" sz="3600" b="1" u="sng">
                <a:latin typeface="Hiragino Sans W6" panose="020B0400000000000000" pitchFamily="34" charset="-128"/>
                <a:ea typeface="Hiragino Sans W6" panose="020B0400000000000000" pitchFamily="34" charset="-128"/>
              </a:rPr>
              <a:t>の違いはどこから来るのでしょうか？</a:t>
            </a:r>
            <a:endParaRPr kumimoji="1" lang="en-US" altLang="ja-JP" sz="3600" b="1" u="sng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6C4D946-1104-4CA4-F3E2-559B1DC8C951}"/>
              </a:ext>
            </a:extLst>
          </p:cNvPr>
          <p:cNvSpPr txBox="1"/>
          <p:nvPr/>
        </p:nvSpPr>
        <p:spPr>
          <a:xfrm>
            <a:off x="11088001" y="13608000"/>
            <a:ext cx="8999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一つ一つの場所の曲がり方を、曲面全体で足し合わせると、穴の数が現れます。これが</a:t>
            </a:r>
            <a:r>
              <a:rPr kumimoji="1" lang="en-US" altLang="ja-JP" sz="3600" b="1" dirty="0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Gauss-Bonnet</a:t>
            </a:r>
            <a:r>
              <a:rPr kumimoji="1" lang="ja-JP" altLang="en-US" sz="36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の定理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です。</a:t>
            </a:r>
            <a:endParaRPr kumimoji="1" lang="ja-JP" altLang="en-US" sz="3600" b="1">
              <a:solidFill>
                <a:srgbClr val="06347F"/>
              </a:solidFill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DE0BA8F7-4264-0227-3D30-690A778D9848}"/>
              </a:ext>
            </a:extLst>
          </p:cNvPr>
          <p:cNvGrpSpPr/>
          <p:nvPr/>
        </p:nvGrpSpPr>
        <p:grpSpPr>
          <a:xfrm>
            <a:off x="11088000" y="12528000"/>
            <a:ext cx="9000000" cy="972000"/>
            <a:chOff x="11102477" y="12466973"/>
            <a:chExt cx="9000000" cy="972000"/>
          </a:xfrm>
        </p:grpSpPr>
        <p:sp>
          <p:nvSpPr>
            <p:cNvPr id="50" name="角丸四角形 49">
              <a:extLst>
                <a:ext uri="{FF2B5EF4-FFF2-40B4-BE49-F238E27FC236}">
                  <a16:creationId xmlns:a16="http://schemas.microsoft.com/office/drawing/2014/main" id="{AF679C3D-3DC3-9DF4-5117-614BF0F503D4}"/>
                </a:ext>
              </a:extLst>
            </p:cNvPr>
            <p:cNvSpPr/>
            <p:nvPr/>
          </p:nvSpPr>
          <p:spPr>
            <a:xfrm>
              <a:off x="11102477" y="12466973"/>
              <a:ext cx="9000000" cy="972000"/>
            </a:xfrm>
            <a:prstGeom prst="roundRect">
              <a:avLst/>
            </a:prstGeom>
            <a:solidFill>
              <a:srgbClr val="06347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C8A57573-C07F-102D-E13F-3CA44FF8BEFF}"/>
                </a:ext>
              </a:extLst>
            </p:cNvPr>
            <p:cNvSpPr txBox="1"/>
            <p:nvPr/>
          </p:nvSpPr>
          <p:spPr>
            <a:xfrm>
              <a:off x="11322077" y="12592973"/>
              <a:ext cx="8544440" cy="76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 b="1" dirty="0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④</a:t>
              </a:r>
              <a:r>
                <a:rPr kumimoji="1" lang="ja-JP" altLang="en-US" sz="4400" b="1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曲率が曲面の穴の数を決める</a:t>
              </a:r>
            </a:p>
          </p:txBody>
        </p: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D87CC5FC-E1E7-2300-DD23-EBFA50C37E89}"/>
              </a:ext>
            </a:extLst>
          </p:cNvPr>
          <p:cNvGrpSpPr/>
          <p:nvPr/>
        </p:nvGrpSpPr>
        <p:grpSpPr>
          <a:xfrm>
            <a:off x="11088000" y="28332000"/>
            <a:ext cx="9395469" cy="812839"/>
            <a:chOff x="11115846" y="27353213"/>
            <a:chExt cx="9383944" cy="850000"/>
          </a:xfrm>
        </p:grpSpPr>
        <p:sp>
          <p:nvSpPr>
            <p:cNvPr id="53" name="角丸四角形 52">
              <a:extLst>
                <a:ext uri="{FF2B5EF4-FFF2-40B4-BE49-F238E27FC236}">
                  <a16:creationId xmlns:a16="http://schemas.microsoft.com/office/drawing/2014/main" id="{AFF23720-882C-0180-C340-24EC07F42AE6}"/>
                </a:ext>
              </a:extLst>
            </p:cNvPr>
            <p:cNvSpPr/>
            <p:nvPr/>
          </p:nvSpPr>
          <p:spPr>
            <a:xfrm>
              <a:off x="11115846" y="27353213"/>
              <a:ext cx="8988241" cy="850000"/>
            </a:xfrm>
            <a:prstGeom prst="roundRect">
              <a:avLst/>
            </a:prstGeom>
            <a:solidFill>
              <a:srgbClr val="F8F5E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F4E82F24-DEC8-DCC4-2D98-272A8AD5724E}"/>
                </a:ext>
              </a:extLst>
            </p:cNvPr>
            <p:cNvSpPr txBox="1"/>
            <p:nvPr/>
          </p:nvSpPr>
          <p:spPr>
            <a:xfrm>
              <a:off x="11245112" y="27408088"/>
              <a:ext cx="9254678" cy="740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数学的注釈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： </a:t>
              </a:r>
              <a:r>
                <a:rPr kumimoji="1" lang="en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S 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は連結・コンパクト・向きづけ可能で境界のない曲面です。</a:t>
              </a:r>
              <a:endParaRPr kumimoji="1" lang="en-US" altLang="ja-JP" sz="20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en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g 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は穴の数です。</a:t>
              </a: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g=0,1,2,…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と穴の数だけで</a:t>
              </a: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S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が分類できます</a:t>
              </a:r>
              <a:r>
                <a:rPr kumimoji="1" lang="ja-JP" altLang="en-US" sz="2000" b="1"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。</a:t>
              </a:r>
              <a:endParaRPr kumimoji="1" lang="ja-JP" altLang="en-US" sz="20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039857A-F4B2-1355-2DCF-B8A6BBB89263}"/>
              </a:ext>
            </a:extLst>
          </p:cNvPr>
          <p:cNvSpPr txBox="1"/>
          <p:nvPr/>
        </p:nvSpPr>
        <p:spPr>
          <a:xfrm>
            <a:off x="11088000" y="20196000"/>
            <a:ext cx="90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Gauss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曲率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𝐾 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の総量から穴の数 𝑔 がわかり、端のない曲面の種類分けができます。</a:t>
            </a:r>
          </a:p>
        </p:txBody>
      </p:sp>
      <p:sp>
        <p:nvSpPr>
          <p:cNvPr id="10" name="テキスト ボックス 40">
            <a:extLst>
              <a:ext uri="{FF2B5EF4-FFF2-40B4-BE49-F238E27FC236}">
                <a16:creationId xmlns:a16="http://schemas.microsoft.com/office/drawing/2014/main" id="{E4D87E18-31BB-1AF0-2985-1C84AEE1A24A}"/>
              </a:ext>
            </a:extLst>
          </p:cNvPr>
          <p:cNvSpPr txBox="1"/>
          <p:nvPr/>
        </p:nvSpPr>
        <p:spPr>
          <a:xfrm>
            <a:off x="1292608" y="27432000"/>
            <a:ext cx="8967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球面は正に曲がっているため、図の三角形の内角の和は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180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度を超えるのです。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B8DB0C1-D4CC-96AD-F1F5-7F8D7DB4FAB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11052000" y="15480000"/>
            <a:ext cx="9108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5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9AD6-0EA6-2C3D-6A3C-C0D2862F5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F378E673-9D62-EFDC-0C40-C45D409EC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434" y="20259841"/>
            <a:ext cx="10468191" cy="745903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13A1FF5-8EF5-2204-D6EC-9F371E7F5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4153" y="6882667"/>
            <a:ext cx="9195903" cy="6267511"/>
          </a:xfrm>
          <a:prstGeom prst="rect">
            <a:avLst/>
          </a:prstGeom>
        </p:spPr>
      </p:pic>
      <p:pic>
        <p:nvPicPr>
          <p:cNvPr id="83" name="図 82">
            <a:extLst>
              <a:ext uri="{FF2B5EF4-FFF2-40B4-BE49-F238E27FC236}">
                <a16:creationId xmlns:a16="http://schemas.microsoft.com/office/drawing/2014/main" id="{6B127661-E7A0-0878-7824-8159DCA6A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091" y="6552000"/>
            <a:ext cx="9052071" cy="7426073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B7EA76B8-3FF0-FC0C-E94C-05C888A744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87" y="16740000"/>
            <a:ext cx="9247482" cy="358078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1BF76F3-5477-2C29-8997-2A960C373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000" y="541131"/>
            <a:ext cx="13668260" cy="1574800"/>
          </a:xfrm>
        </p:spPr>
        <p:txBody>
          <a:bodyPr>
            <a:normAutofit/>
          </a:bodyPr>
          <a:lstStyle/>
          <a:p>
            <a:r>
              <a:rPr lang="ja-JP" altLang="en-US" sz="8800" b="1">
                <a:solidFill>
                  <a:srgbClr val="002F74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rPr>
              <a:t>曲がりから、空間の正体へ</a:t>
            </a:r>
            <a:endParaRPr kumimoji="1" lang="ja-JP" altLang="en-US" sz="8800" b="1">
              <a:solidFill>
                <a:srgbClr val="002F74"/>
              </a:solidFill>
              <a:latin typeface="Hiragino Sans W8" panose="020B0400000000000000" pitchFamily="34" charset="-128"/>
              <a:ea typeface="Hiragino Sans W8" panose="020B0400000000000000" pitchFamily="34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EF41FB-4E0A-62AB-265E-B1EF9520E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2000" y="2088000"/>
            <a:ext cx="13668260" cy="1098458"/>
          </a:xfrm>
        </p:spPr>
        <p:txBody>
          <a:bodyPr>
            <a:noAutofit/>
          </a:bodyPr>
          <a:lstStyle/>
          <a:p>
            <a:r>
              <a:rPr lang="ja-JP" altLang="en-US" sz="5400" b="1">
                <a:solidFill>
                  <a:srgbClr val="082E70"/>
                </a:solidFill>
              </a:rPr>
              <a:t>曲がり方を数にして、図形を見分ける数学</a:t>
            </a:r>
          </a:p>
          <a:p>
            <a:endParaRPr kumimoji="1" lang="ja-JP" altLang="en-US" sz="5400" b="1">
              <a:solidFill>
                <a:srgbClr val="082E7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D4EEF7-B0B1-532B-15D8-892C23617C70}"/>
              </a:ext>
            </a:extLst>
          </p:cNvPr>
          <p:cNvSpPr txBox="1"/>
          <p:nvPr/>
        </p:nvSpPr>
        <p:spPr>
          <a:xfrm>
            <a:off x="5781145" y="2922001"/>
            <a:ext cx="9821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大阪大学大学院理学研究科</a:t>
            </a:r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</a:t>
            </a:r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数学専攻</a:t>
            </a:r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</a:t>
            </a:r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岩井雅崇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4B80ACE-00B4-B05E-CC47-4B7C8D3B6CD2}"/>
              </a:ext>
            </a:extLst>
          </p:cNvPr>
          <p:cNvCxnSpPr>
            <a:cxnSpLocks/>
          </p:cNvCxnSpPr>
          <p:nvPr/>
        </p:nvCxnSpPr>
        <p:spPr>
          <a:xfrm>
            <a:off x="10691811" y="4020459"/>
            <a:ext cx="0" cy="24526663"/>
          </a:xfrm>
          <a:prstGeom prst="line">
            <a:avLst/>
          </a:prstGeom>
          <a:ln w="25400" cmpd="sng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00BB29C4-4516-2DEF-136F-F11C7EBBBD71}"/>
              </a:ext>
            </a:extLst>
          </p:cNvPr>
          <p:cNvSpPr/>
          <p:nvPr/>
        </p:nvSpPr>
        <p:spPr>
          <a:xfrm>
            <a:off x="1260000" y="3780000"/>
            <a:ext cx="9000000" cy="972000"/>
          </a:xfrm>
          <a:prstGeom prst="roundRect">
            <a:avLst/>
          </a:prstGeom>
          <a:solidFill>
            <a:srgbClr val="0634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335723A-9FB8-6A33-0B5B-89D8C4F91C5A}"/>
              </a:ext>
            </a:extLst>
          </p:cNvPr>
          <p:cNvSpPr txBox="1"/>
          <p:nvPr/>
        </p:nvSpPr>
        <p:spPr>
          <a:xfrm>
            <a:off x="1188000" y="3895603"/>
            <a:ext cx="92081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 dirty="0">
                <a:solidFill>
                  <a:schemeClr val="bg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⑤2</a:t>
            </a:r>
            <a:r>
              <a:rPr kumimoji="1" lang="ja-JP" altLang="en-US" sz="4400" b="1">
                <a:solidFill>
                  <a:schemeClr val="bg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次元の図形から</a:t>
            </a:r>
            <a:r>
              <a:rPr kumimoji="1" lang="en-US" altLang="ja-JP" sz="4400" b="1" dirty="0">
                <a:solidFill>
                  <a:schemeClr val="bg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4</a:t>
            </a:r>
            <a:r>
              <a:rPr kumimoji="1" lang="ja-JP" altLang="en-US" sz="4400" b="1">
                <a:solidFill>
                  <a:schemeClr val="bg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次元の図形へ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A0AA1EE-A7FA-A47B-693B-7CCDDA92C42D}"/>
              </a:ext>
            </a:extLst>
          </p:cNvPr>
          <p:cNvGrpSpPr/>
          <p:nvPr/>
        </p:nvGrpSpPr>
        <p:grpSpPr>
          <a:xfrm>
            <a:off x="10656000" y="3780000"/>
            <a:ext cx="9821332" cy="972000"/>
            <a:chOff x="10800000" y="3780000"/>
            <a:chExt cx="9821332" cy="972000"/>
          </a:xfrm>
        </p:grpSpPr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00BB29C4-4516-2DEF-136F-F11C7EBBBD71}"/>
                </a:ext>
              </a:extLst>
            </p:cNvPr>
            <p:cNvSpPr/>
            <p:nvPr/>
          </p:nvSpPr>
          <p:spPr>
            <a:xfrm>
              <a:off x="11232000" y="3780000"/>
              <a:ext cx="9000000" cy="972000"/>
            </a:xfrm>
            <a:prstGeom prst="roundRect">
              <a:avLst/>
            </a:prstGeom>
            <a:solidFill>
              <a:srgbClr val="06347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7">
              <a:extLst>
                <a:ext uri="{FF2B5EF4-FFF2-40B4-BE49-F238E27FC236}">
                  <a16:creationId xmlns:a16="http://schemas.microsoft.com/office/drawing/2014/main" id="{C335723A-9FB8-6A33-0B5B-89D8C4F91C5A}"/>
                </a:ext>
              </a:extLst>
            </p:cNvPr>
            <p:cNvSpPr txBox="1"/>
            <p:nvPr/>
          </p:nvSpPr>
          <p:spPr>
            <a:xfrm>
              <a:off x="10800000" y="3909832"/>
              <a:ext cx="982133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4400" b="1" dirty="0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⑦</a:t>
              </a:r>
              <a:r>
                <a:rPr kumimoji="1" lang="ja-JP" altLang="en-US" sz="4400" b="1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 </a:t>
              </a:r>
              <a:r>
                <a:rPr kumimoji="1" lang="en-US" altLang="ja-JP" sz="4400" b="1" dirty="0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Chern</a:t>
              </a:r>
              <a:r>
                <a:rPr kumimoji="1" lang="ja-JP" altLang="en-US" sz="4400" b="1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数が複素曲面を制限する</a:t>
              </a:r>
              <a:endParaRPr kumimoji="1" lang="en-US" altLang="ja-JP" sz="4400" b="1" dirty="0">
                <a:solidFill>
                  <a:schemeClr val="bg1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endParaRPr>
            </a:p>
          </p:txBody>
        </p:sp>
      </p:grpSp>
      <p:sp>
        <p:nvSpPr>
          <p:cNvPr id="27" name="テキスト ボックス 35">
            <a:extLst>
              <a:ext uri="{FF2B5EF4-FFF2-40B4-BE49-F238E27FC236}">
                <a16:creationId xmlns:a16="http://schemas.microsoft.com/office/drawing/2014/main" id="{DA113E73-1736-3907-7445-BE59730F58B3}"/>
              </a:ext>
            </a:extLst>
          </p:cNvPr>
          <p:cNvSpPr txBox="1"/>
          <p:nvPr/>
        </p:nvSpPr>
        <p:spPr>
          <a:xfrm>
            <a:off x="1260000" y="5040000"/>
            <a:ext cx="92081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今度は目には見えない実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4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次元の図形を考えましょう。次元とは点の位置を表すために必要な数字の数です。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3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次元では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3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つ、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4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次元では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4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つの数字で点の位置を表します。</a:t>
            </a:r>
            <a:endParaRPr kumimoji="1" lang="en-US" altLang="ja-JP" sz="36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D50B0D3A-B9B4-3959-AA4E-D9CBAA9871A0}"/>
              </a:ext>
            </a:extLst>
          </p:cNvPr>
          <p:cNvGrpSpPr/>
          <p:nvPr/>
        </p:nvGrpSpPr>
        <p:grpSpPr>
          <a:xfrm>
            <a:off x="1260000" y="13680000"/>
            <a:ext cx="9000000" cy="972000"/>
            <a:chOff x="1260000" y="13398558"/>
            <a:chExt cx="9000000" cy="972000"/>
          </a:xfrm>
        </p:grpSpPr>
        <p:sp>
          <p:nvSpPr>
            <p:cNvPr id="33" name="角丸四角形 32">
              <a:extLst>
                <a:ext uri="{FF2B5EF4-FFF2-40B4-BE49-F238E27FC236}">
                  <a16:creationId xmlns:a16="http://schemas.microsoft.com/office/drawing/2014/main" id="{22C77C7D-8288-B4C8-830D-6D8604B85941}"/>
                </a:ext>
              </a:extLst>
            </p:cNvPr>
            <p:cNvSpPr/>
            <p:nvPr/>
          </p:nvSpPr>
          <p:spPr>
            <a:xfrm>
              <a:off x="1260000" y="13398558"/>
              <a:ext cx="9000000" cy="972000"/>
            </a:xfrm>
            <a:prstGeom prst="roundRect">
              <a:avLst/>
            </a:prstGeom>
            <a:solidFill>
              <a:srgbClr val="06347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sp>
          <p:nvSpPr>
            <p:cNvPr id="31" name="テキスト ボックス 7">
              <a:extLst>
                <a:ext uri="{FF2B5EF4-FFF2-40B4-BE49-F238E27FC236}">
                  <a16:creationId xmlns:a16="http://schemas.microsoft.com/office/drawing/2014/main" id="{C335723A-9FB8-6A33-0B5B-89D8C4F91C5A}"/>
                </a:ext>
              </a:extLst>
            </p:cNvPr>
            <p:cNvSpPr txBox="1"/>
            <p:nvPr/>
          </p:nvSpPr>
          <p:spPr>
            <a:xfrm>
              <a:off x="1337205" y="13549758"/>
              <a:ext cx="87147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4400" b="1" dirty="0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⑥</a:t>
              </a:r>
              <a:r>
                <a:rPr kumimoji="1" lang="ja-JP" altLang="en-US" sz="4400" b="1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複素数</a:t>
              </a:r>
              <a:r>
                <a:rPr kumimoji="1" lang="en-US" altLang="ja-JP" sz="4400" b="1" dirty="0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2</a:t>
              </a:r>
              <a:r>
                <a:rPr kumimoji="1" lang="ja-JP" altLang="en-US" sz="4400" b="1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個 ＝ 実数</a:t>
              </a:r>
              <a:r>
                <a:rPr kumimoji="1" lang="en-US" altLang="ja-JP" sz="4400" b="1" dirty="0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4</a:t>
              </a:r>
              <a:r>
                <a:rPr kumimoji="1" lang="ja-JP" altLang="en-US" sz="4400" b="1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個</a:t>
              </a:r>
            </a:p>
          </p:txBody>
        </p:sp>
      </p:grpSp>
      <p:sp>
        <p:nvSpPr>
          <p:cNvPr id="48" name="テキスト ボックス 35">
            <a:extLst>
              <a:ext uri="{FF2B5EF4-FFF2-40B4-BE49-F238E27FC236}">
                <a16:creationId xmlns:a16="http://schemas.microsoft.com/office/drawing/2014/main" id="{DA113E73-1736-3907-7445-BE59730F58B3}"/>
              </a:ext>
            </a:extLst>
          </p:cNvPr>
          <p:cNvSpPr txBox="1"/>
          <p:nvPr/>
        </p:nvSpPr>
        <p:spPr>
          <a:xfrm>
            <a:off x="1260000" y="14868000"/>
            <a:ext cx="92081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私は複素数を使って作られる図形を研究しています。複素数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1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個は、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個の実数で表せます。複素数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個なら、実数は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4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個必要です。そのため</a:t>
            </a:r>
            <a:r>
              <a:rPr kumimoji="1" lang="ja-JP" altLang="en-US" sz="36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複素</a:t>
            </a:r>
            <a:r>
              <a:rPr kumimoji="1" lang="en-US" altLang="ja-JP" sz="3600" b="1" dirty="0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36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次元は実</a:t>
            </a:r>
            <a:r>
              <a:rPr kumimoji="1" lang="en-US" altLang="ja-JP" sz="3600" b="1" dirty="0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4</a:t>
            </a:r>
            <a:r>
              <a:rPr kumimoji="1" lang="ja-JP" altLang="en-US" sz="36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に相当します。</a:t>
            </a:r>
            <a:endParaRPr kumimoji="1" lang="en-US" altLang="ja-JP" sz="36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54" name="テキスト ボックス 35">
            <a:extLst>
              <a:ext uri="{FF2B5EF4-FFF2-40B4-BE49-F238E27FC236}">
                <a16:creationId xmlns:a16="http://schemas.microsoft.com/office/drawing/2014/main" id="{DA113E73-1736-3907-7445-BE59730F58B3}"/>
              </a:ext>
            </a:extLst>
          </p:cNvPr>
          <p:cNvSpPr txBox="1"/>
          <p:nvPr/>
        </p:nvSpPr>
        <p:spPr>
          <a:xfrm>
            <a:off x="11088000" y="5016146"/>
            <a:ext cx="91420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球面やドーナツのような実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次元の曲面は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Gauss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曲率の総量で分類できました。</a:t>
            </a:r>
            <a:endParaRPr kumimoji="1" lang="en-US" altLang="ja-JP" sz="36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複素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次元の曲面では図形全体の曲がり方を表す二つの</a:t>
            </a:r>
            <a:r>
              <a:rPr kumimoji="1" lang="en" altLang="ja-JP" sz="3600" b="1" dirty="0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Chern(</a:t>
            </a:r>
            <a:r>
              <a:rPr kumimoji="1" lang="ja-JP" altLang="en-US" sz="36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チャーン</a:t>
            </a:r>
            <a:r>
              <a:rPr kumimoji="1" lang="en" altLang="ja-JP" sz="3600" b="1" dirty="0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)</a:t>
            </a:r>
            <a:r>
              <a:rPr kumimoji="1" lang="ja-JP" altLang="en-US" sz="3600" b="1">
                <a:solidFill>
                  <a:srgbClr val="FF0000"/>
                </a:solidFill>
                <a:latin typeface="Hiragino Sans W6" panose="020B0400000000000000" pitchFamily="34" charset="-128"/>
                <a:ea typeface="Hiragino Sans W6" panose="020B0400000000000000" pitchFamily="34" charset="-128"/>
              </a:rPr>
              <a:t>数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が重要になります。</a:t>
            </a:r>
            <a:endParaRPr kumimoji="1" lang="en-US" altLang="ja-JP" sz="36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EABBB23-120D-1F33-5161-01318ED899D1}"/>
              </a:ext>
            </a:extLst>
          </p:cNvPr>
          <p:cNvGrpSpPr/>
          <p:nvPr/>
        </p:nvGrpSpPr>
        <p:grpSpPr>
          <a:xfrm>
            <a:off x="11088000" y="17316000"/>
            <a:ext cx="9000000" cy="972000"/>
            <a:chOff x="11232000" y="18233889"/>
            <a:chExt cx="9000000" cy="972000"/>
          </a:xfrm>
        </p:grpSpPr>
        <p:sp>
          <p:nvSpPr>
            <p:cNvPr id="60" name="角丸四角形 59">
              <a:extLst>
                <a:ext uri="{FF2B5EF4-FFF2-40B4-BE49-F238E27FC236}">
                  <a16:creationId xmlns:a16="http://schemas.microsoft.com/office/drawing/2014/main" id="{22C77C7D-8288-B4C8-830D-6D8604B85941}"/>
                </a:ext>
              </a:extLst>
            </p:cNvPr>
            <p:cNvSpPr/>
            <p:nvPr/>
          </p:nvSpPr>
          <p:spPr>
            <a:xfrm>
              <a:off x="11232000" y="18233889"/>
              <a:ext cx="9000000" cy="972000"/>
            </a:xfrm>
            <a:prstGeom prst="roundRect">
              <a:avLst/>
            </a:prstGeom>
            <a:solidFill>
              <a:srgbClr val="06347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sp>
          <p:nvSpPr>
            <p:cNvPr id="61" name="テキスト ボックス 7">
              <a:extLst>
                <a:ext uri="{FF2B5EF4-FFF2-40B4-BE49-F238E27FC236}">
                  <a16:creationId xmlns:a16="http://schemas.microsoft.com/office/drawing/2014/main" id="{C9D577BF-F310-2A2D-F76F-CFCFBCE97A3F}"/>
                </a:ext>
              </a:extLst>
            </p:cNvPr>
            <p:cNvSpPr txBox="1"/>
            <p:nvPr/>
          </p:nvSpPr>
          <p:spPr>
            <a:xfrm>
              <a:off x="11461690" y="18360549"/>
              <a:ext cx="8661935" cy="769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4400" b="1" dirty="0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⑧Chern</a:t>
              </a:r>
              <a:r>
                <a:rPr kumimoji="1" lang="ja-JP" altLang="en-US" sz="4400" b="1">
                  <a:solidFill>
                    <a:schemeClr val="bg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数の地図</a:t>
              </a:r>
            </a:p>
          </p:txBody>
        </p:sp>
      </p:grpSp>
      <p:sp>
        <p:nvSpPr>
          <p:cNvPr id="67" name="テキスト ボックス 35">
            <a:extLst>
              <a:ext uri="{FF2B5EF4-FFF2-40B4-BE49-F238E27FC236}">
                <a16:creationId xmlns:a16="http://schemas.microsoft.com/office/drawing/2014/main" id="{9A75E394-CACF-A3EE-AD1A-ECA3B08AC5D3}"/>
              </a:ext>
            </a:extLst>
          </p:cNvPr>
          <p:cNvSpPr txBox="1"/>
          <p:nvPr/>
        </p:nvSpPr>
        <p:spPr>
          <a:xfrm>
            <a:off x="1260000" y="19872000"/>
            <a:ext cx="93651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複素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2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次元の曲面も実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4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次元なので目には見えませんが、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3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次元に投影することで、下の写真のようにイメージすることができます。</a:t>
            </a:r>
            <a:endParaRPr kumimoji="1" lang="en-US" altLang="ja-JP" sz="36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85E85D59-EE4F-E7E9-7AF3-547EEFE7B3CE}"/>
              </a:ext>
            </a:extLst>
          </p:cNvPr>
          <p:cNvSpPr txBox="1"/>
          <p:nvPr/>
        </p:nvSpPr>
        <p:spPr>
          <a:xfrm>
            <a:off x="1441275" y="28368000"/>
            <a:ext cx="8506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ja-JP" b="1" dirty="0"/>
              <a:t>R. W. H. T. Hudson, Kummer’s Quartic Surface, </a:t>
            </a:r>
          </a:p>
          <a:p>
            <a:pPr algn="ctr"/>
            <a:r>
              <a:rPr lang="en" altLang="ja-JP" b="1" dirty="0"/>
              <a:t>Cambridge University Press, 1905, frontispiece.</a:t>
            </a:r>
            <a:br>
              <a:rPr lang="en" altLang="ja-JP" b="1" dirty="0"/>
            </a:br>
            <a:r>
              <a:rPr lang="en" altLang="ja-JP" b="1" dirty="0"/>
              <a:t>Digitized by University of California Libraries / Internet Archive. Public domain.</a:t>
            </a:r>
            <a:endParaRPr kumimoji="1" lang="ja-JP" altLang="en-US"/>
          </a:p>
        </p:txBody>
      </p:sp>
      <p:sp>
        <p:nvSpPr>
          <p:cNvPr id="73" name="テキスト ボックス 35">
            <a:extLst>
              <a:ext uri="{FF2B5EF4-FFF2-40B4-BE49-F238E27FC236}">
                <a16:creationId xmlns:a16="http://schemas.microsoft.com/office/drawing/2014/main" id="{DA113E73-1736-3907-7445-BE59730F58B3}"/>
              </a:ext>
            </a:extLst>
          </p:cNvPr>
          <p:cNvSpPr txBox="1"/>
          <p:nvPr/>
        </p:nvSpPr>
        <p:spPr>
          <a:xfrm>
            <a:off x="11087999" y="11736000"/>
            <a:ext cx="88916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一般型と呼ばれる複素曲面は自由に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Chern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数を取ることができません。</a:t>
            </a:r>
            <a:r>
              <a:rPr kumimoji="1" lang="en-US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 </a:t>
            </a:r>
          </a:p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次の不等式を必ず満たす必要があります。</a:t>
            </a:r>
            <a:endParaRPr kumimoji="1" lang="en-US" altLang="ja-JP" sz="36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2A53F183-EAD5-45B9-22DA-A5E6E31715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0000" y="21672000"/>
            <a:ext cx="9000000" cy="6698566"/>
          </a:xfrm>
          <a:prstGeom prst="rect">
            <a:avLst/>
          </a:prstGeom>
        </p:spPr>
      </p:pic>
      <p:pic>
        <p:nvPicPr>
          <p:cNvPr id="77" name="図 76">
            <a:extLst>
              <a:ext uri="{FF2B5EF4-FFF2-40B4-BE49-F238E27FC236}">
                <a16:creationId xmlns:a16="http://schemas.microsoft.com/office/drawing/2014/main" id="{520BCBBC-3D5B-5981-4E8E-6F22C85FD9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2000" y="13572000"/>
            <a:ext cx="9142060" cy="34480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35">
                <a:extLst>
                  <a:ext uri="{FF2B5EF4-FFF2-40B4-BE49-F238E27FC236}">
                    <a16:creationId xmlns:a16="http://schemas.microsoft.com/office/drawing/2014/main" id="{DA113E73-1736-3907-7445-BE59730F58B3}"/>
                  </a:ext>
                </a:extLst>
              </p:cNvPr>
              <p:cNvSpPr txBox="1"/>
              <p:nvPr/>
            </p:nvSpPr>
            <p:spPr>
              <a:xfrm>
                <a:off x="11088000" y="18432000"/>
                <a:ext cx="9035625" cy="1766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ja-JP" altLang="en-US" sz="3600" b="1">
                    <a:solidFill>
                      <a:schemeClr val="tx1"/>
                    </a:solidFill>
                    <a:ea typeface="Hiragino Sans W6" panose="020B0400000000000000" pitchFamily="34" charset="-128"/>
                  </a:rPr>
                  <a:t>縦軸に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  <m:t>𝒄</m:t>
                        </m:r>
                      </m:e>
                      <m:sub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  <m:t>(</m:t>
                        </m:r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  <m:t>𝑿</m:t>
                        </m:r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  <m:t>)</m:t>
                        </m:r>
                      </m:e>
                      <m:sup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ja-JP" altLang="en-US" sz="3600" b="1">
                    <a:solidFill>
                      <a:schemeClr val="tx1"/>
                    </a:solidFill>
                    <a:latin typeface="Hiragino Sans W6" panose="020B0400000000000000" pitchFamily="34" charset="-128"/>
                    <a:ea typeface="Hiragino Sans W6" panose="020B0400000000000000" pitchFamily="34" charset="-128"/>
                  </a:rPr>
                  <a:t>、横軸に</a:t>
                </a:r>
                <a14:m>
                  <m:oMath xmlns:m="http://schemas.openxmlformats.org/officeDocument/2006/math">
                    <m:r>
                      <a:rPr kumimoji="1" lang="en-US" altLang="ja-JP" sz="3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Hiragino Sans W6" panose="020B0400000000000000" pitchFamily="34" charset="-128"/>
                      </a:rPr>
                      <m:t> </m:t>
                    </m:r>
                    <m:sSub>
                      <m:sSubPr>
                        <m:ctrlP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  <m:t>𝒄</m:t>
                        </m:r>
                      </m:e>
                      <m:sub>
                        <m:r>
                          <a:rPr kumimoji="1" lang="en-US" altLang="ja-JP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iragino Sans W6" panose="020B0400000000000000" pitchFamily="34" charset="-128"/>
                          </a:rPr>
                          <m:t>𝟐</m:t>
                        </m:r>
                      </m:sub>
                    </m:sSub>
                    <m:r>
                      <a:rPr kumimoji="1" lang="en-US" altLang="ja-JP" sz="3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Hiragino Sans W6" panose="020B0400000000000000" pitchFamily="34" charset="-128"/>
                      </a:rPr>
                      <m:t>(</m:t>
                    </m:r>
                    <m:r>
                      <a:rPr kumimoji="1" lang="en-US" altLang="ja-JP" sz="3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Hiragino Sans W6" panose="020B0400000000000000" pitchFamily="34" charset="-128"/>
                      </a:rPr>
                      <m:t>𝑿</m:t>
                    </m:r>
                    <m:r>
                      <a:rPr kumimoji="1" lang="en-US" altLang="ja-JP" sz="3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Hiragino Sans W6" panose="020B0400000000000000" pitchFamily="34" charset="-128"/>
                      </a:rPr>
                      <m:t>)</m:t>
                    </m:r>
                  </m:oMath>
                </a14:m>
                <a:r>
                  <a:rPr kumimoji="1" lang="ja-JP" altLang="en-US" sz="3600" b="1">
                    <a:solidFill>
                      <a:schemeClr val="tx1"/>
                    </a:solidFill>
                    <a:latin typeface="Hiragino Sans W6" panose="020B0400000000000000" pitchFamily="34" charset="-128"/>
                    <a:ea typeface="Hiragino Sans W6" panose="020B0400000000000000" pitchFamily="34" charset="-128"/>
                  </a:rPr>
                  <a:t>をかいた地図を考えると</a:t>
                </a:r>
                <a:r>
                  <a:rPr kumimoji="1" lang="ja-JP" altLang="en-US" sz="3600" b="1">
                    <a:latin typeface="Hiragino Sans W6" panose="020B0400000000000000" pitchFamily="34" charset="-128"/>
                    <a:ea typeface="Hiragino Sans W6" panose="020B0400000000000000" pitchFamily="34" charset="-128"/>
                  </a:rPr>
                  <a:t>、</a:t>
                </a:r>
                <a:r>
                  <a:rPr kumimoji="1" lang="en-US" altLang="ja-JP" sz="3600" b="1" dirty="0">
                    <a:latin typeface="Hiragino Sans W6" panose="020B0400000000000000" pitchFamily="34" charset="-128"/>
                    <a:ea typeface="Hiragino Sans W6" panose="020B0400000000000000" pitchFamily="34" charset="-128"/>
                  </a:rPr>
                  <a:t>Chern</a:t>
                </a:r>
                <a:r>
                  <a:rPr kumimoji="1" lang="ja-JP" altLang="en-US" sz="3600" b="1">
                    <a:latin typeface="Hiragino Sans W6" panose="020B0400000000000000" pitchFamily="34" charset="-128"/>
                    <a:ea typeface="Hiragino Sans W6" panose="020B0400000000000000" pitchFamily="34" charset="-128"/>
                  </a:rPr>
                  <a:t>数の候補は下の緑色の部分に限られます。</a:t>
                </a:r>
                <a:endParaRPr kumimoji="1" lang="en-US" altLang="ja-JP" sz="3600" b="1" dirty="0">
                  <a:solidFill>
                    <a:schemeClr val="tx1"/>
                  </a:solidFill>
                  <a:latin typeface="Hiragino Sans W6" panose="020B0400000000000000" pitchFamily="34" charset="-128"/>
                  <a:ea typeface="Hiragino Sans W6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8" name="テキスト ボックス 35">
                <a:extLst>
                  <a:ext uri="{FF2B5EF4-FFF2-40B4-BE49-F238E27FC236}">
                    <a16:creationId xmlns:a16="http://schemas.microsoft.com/office/drawing/2014/main" id="{DA113E73-1736-3907-7445-BE59730F5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8000" y="18432000"/>
                <a:ext cx="9035625" cy="1766894"/>
              </a:xfrm>
              <a:prstGeom prst="rect">
                <a:avLst/>
              </a:prstGeom>
              <a:blipFill>
                <a:blip r:embed="rId9"/>
                <a:stretch>
                  <a:fillRect l="-2107" t="-5000" r="-1545" b="-121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テキスト ボックス 35">
            <a:extLst>
              <a:ext uri="{FF2B5EF4-FFF2-40B4-BE49-F238E27FC236}">
                <a16:creationId xmlns:a16="http://schemas.microsoft.com/office/drawing/2014/main" id="{DA113E73-1736-3907-7445-BE59730F58B3}"/>
              </a:ext>
            </a:extLst>
          </p:cNvPr>
          <p:cNvSpPr txBox="1"/>
          <p:nvPr/>
        </p:nvSpPr>
        <p:spPr>
          <a:xfrm>
            <a:off x="11088000" y="27576000"/>
            <a:ext cx="89977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このように、目には見えない複素数の図形も、曲率や</a:t>
            </a:r>
            <a:r>
              <a:rPr kumimoji="1" lang="en" altLang="ja-JP" sz="36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Chern</a:t>
            </a:r>
            <a:r>
              <a:rPr kumimoji="1" lang="ja-JP" altLang="en-US" sz="36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数を使って調べることができます。</a:t>
            </a:r>
            <a:endParaRPr kumimoji="1" lang="en-US" altLang="ja-JP" sz="3600" b="1" dirty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6EFA33A4-7D44-5AD1-018F-CCF56BD571DB}"/>
              </a:ext>
            </a:extLst>
          </p:cNvPr>
          <p:cNvGrpSpPr/>
          <p:nvPr/>
        </p:nvGrpSpPr>
        <p:grpSpPr>
          <a:xfrm>
            <a:off x="1260000" y="12852000"/>
            <a:ext cx="9000000" cy="504000"/>
            <a:chOff x="1260000" y="12265505"/>
            <a:chExt cx="9000000" cy="504000"/>
          </a:xfrm>
        </p:grpSpPr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AFF23720-882C-0180-C340-24EC07F42AE6}"/>
                </a:ext>
              </a:extLst>
            </p:cNvPr>
            <p:cNvSpPr/>
            <p:nvPr/>
          </p:nvSpPr>
          <p:spPr>
            <a:xfrm>
              <a:off x="1260000" y="12265505"/>
              <a:ext cx="9000000" cy="504000"/>
            </a:xfrm>
            <a:prstGeom prst="roundRect">
              <a:avLst/>
            </a:prstGeom>
            <a:solidFill>
              <a:srgbClr val="F8F5E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54">
              <a:extLst>
                <a:ext uri="{FF2B5EF4-FFF2-40B4-BE49-F238E27FC236}">
                  <a16:creationId xmlns:a16="http://schemas.microsoft.com/office/drawing/2014/main" id="{F4E82F24-DEC8-DCC4-2D98-272A8AD5724E}"/>
                </a:ext>
              </a:extLst>
            </p:cNvPr>
            <p:cNvSpPr txBox="1"/>
            <p:nvPr/>
          </p:nvSpPr>
          <p:spPr>
            <a:xfrm>
              <a:off x="1368000" y="12348305"/>
              <a:ext cx="85533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20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数学的注釈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： 右の図は、</a:t>
              </a: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4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次元立方体を</a:t>
              </a: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3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次元に投影したイメージです</a:t>
              </a:r>
              <a:r>
                <a:rPr kumimoji="1" lang="ja-JP" altLang="en-US" sz="2000" b="1"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。</a:t>
              </a:r>
              <a:endParaRPr kumimoji="1" lang="ja-JP" altLang="en-US" sz="20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660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649</TotalTime>
  <Words>674</Words>
  <Application>Microsoft Macintosh PowerPoint</Application>
  <PresentationFormat>ユーザー設定</PresentationFormat>
  <Paragraphs>39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1" baseType="lpstr">
      <vt:lpstr>Hiragino Sans W4</vt:lpstr>
      <vt:lpstr>Hiragino Sans W6</vt:lpstr>
      <vt:lpstr>Hiragino Sans W8</vt:lpstr>
      <vt:lpstr>游ゴシック</vt:lpstr>
      <vt:lpstr>Aptos</vt:lpstr>
      <vt:lpstr>Aptos Display</vt:lpstr>
      <vt:lpstr>Arial</vt:lpstr>
      <vt:lpstr>Cambria Math</vt:lpstr>
      <vt:lpstr>Office テーマ</vt:lpstr>
      <vt:lpstr>曲がりから、空間の正体へ</vt:lpstr>
      <vt:lpstr>曲がりから、空間の正体へ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岩井　雅崇</dc:creator>
  <cp:lastModifiedBy>岩井　雅崇</cp:lastModifiedBy>
  <cp:revision>31</cp:revision>
  <dcterms:created xsi:type="dcterms:W3CDTF">2026-08-03T19:57:20Z</dcterms:created>
  <dcterms:modified xsi:type="dcterms:W3CDTF">2026-08-07T01:01:40Z</dcterms:modified>
</cp:coreProperties>
</file>